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09728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Broker Market and Competition Radar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731520" y="1965960"/>
            <a:ext cx="9144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fragmented signals to actionable recommendations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731520" y="26060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66666"/>
                </a:solidFill>
              </a:rPr>
              <a:t>AI-assisted market intelligence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274320" y="64008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6666"/>
                </a:solidFill>
              </a:rPr>
              <a:t>Confidential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430000" y="6400800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66666"/>
                </a:solidFill>
              </a:rPr>
              <a:t>1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24135F"/>
          </a:solidFill>
          <a:ln w="12700">
            <a:solidFill>
              <a:srgbClr val="2413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502920"/>
            <a:ext cx="9875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Current pain points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31520" y="960120"/>
            <a:ext cx="9144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</a:rPr>
              <a:t>Why the current process is inefficient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822960" y="141732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Broker consultants currently face several challenges: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914400" y="1828800"/>
            <a:ext cx="987552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Fragmented market information</a:t>
            </a:r>
            <a:endParaRPr lang="en-US" sz="1800" dirty="0"/>
          </a:p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 manual research effort</a:t>
            </a:r>
            <a:endParaRPr lang="en-US" sz="1800" dirty="0"/>
          </a:p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Late detection of relevant signals</a:t>
            </a:r>
            <a:endParaRPr lang="en-US" sz="1800" dirty="0"/>
          </a:p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Missed proactive engagement opportunities</a:t>
            </a:r>
            <a:endParaRPr lang="en-US" sz="1800" dirty="0"/>
          </a:p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Missed test</a:t>
            </a:r>
            <a:endParaRPr lang="en-US" sz="1800" dirty="0"/>
          </a:p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Missed test</a:t>
            </a:r>
            <a:endParaRPr lang="en-US" sz="1800" dirty="0"/>
          </a:p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Missed test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274320" y="64008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6666"/>
                </a:solidFill>
              </a:rPr>
              <a:t>Confidential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430000" y="6400800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66666"/>
                </a:solidFill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24135F"/>
          </a:solidFill>
          <a:ln w="12700">
            <a:solidFill>
              <a:srgbClr val="2413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502920"/>
            <a:ext cx="9875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Today vs target state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31520" y="960120"/>
            <a:ext cx="9144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</a:rPr>
              <a:t>How the workflow changes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777240" y="1554480"/>
            <a:ext cx="4983480" cy="3566160"/>
          </a:xfrm>
          <a:prstGeom prst="roundRect">
            <a:avLst>
              <a:gd name="adj" fmla="val 1538"/>
            </a:avLst>
          </a:prstGeom>
          <a:solidFill>
            <a:srgbClr val="F5F5F5"/>
          </a:solidFill>
          <a:ln w="12700">
            <a:solidFill>
              <a:srgbClr val="DADAD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355080" y="1554480"/>
            <a:ext cx="4983480" cy="3566160"/>
          </a:xfrm>
          <a:prstGeom prst="roundRect">
            <a:avLst>
              <a:gd name="adj" fmla="val 1538"/>
            </a:avLst>
          </a:prstGeom>
          <a:solidFill>
            <a:srgbClr val="EAF2FF"/>
          </a:solidFill>
          <a:ln w="12700">
            <a:solidFill>
              <a:srgbClr val="B7D1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05840" y="1755648"/>
            <a:ext cx="4526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33333"/>
                </a:solidFill>
              </a:rPr>
              <a:t>Today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583680" y="1755648"/>
            <a:ext cx="4526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D1D1D"/>
                </a:solidFill>
              </a:rPr>
              <a:t>Target state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005840" y="2212848"/>
            <a:ext cx="4572000" cy="2468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28600" indent="-228600">
              <a:buSzPct val="100000"/>
              <a:buChar char="•"/>
            </a:pPr>
            <a:r>
              <a:rPr lang="en-US" sz="1500" dirty="0">
                <a:solidFill>
                  <a:srgbClr val="444444"/>
                </a:solidFill>
              </a:rPr>
              <a:t>Manual monitoring</a:t>
            </a:r>
            <a:endParaRPr lang="en-US" sz="1500" dirty="0"/>
          </a:p>
          <a:p>
            <a:pPr marL="228600" indent="-228600">
              <a:buSzPct val="100000"/>
              <a:buChar char="•"/>
            </a:pPr>
            <a:r>
              <a:rPr lang="en-US" sz="1500" dirty="0">
                <a:solidFill>
                  <a:srgbClr val="444444"/>
                </a:solidFill>
              </a:rPr>
              <a:t>Scattered sources</a:t>
            </a:r>
            <a:endParaRPr lang="en-US" sz="1500" dirty="0"/>
          </a:p>
          <a:p>
            <a:pPr marL="228600" indent="-228600">
              <a:buSzPct val="100000"/>
              <a:buChar char="•"/>
            </a:pPr>
            <a:r>
              <a:rPr lang="en-US" sz="1500" dirty="0">
                <a:solidFill>
                  <a:srgbClr val="444444"/>
                </a:solidFill>
              </a:rPr>
              <a:t>Reactive engagement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6583680" y="2212848"/>
            <a:ext cx="4572000" cy="2468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28600" indent="-228600">
              <a:buSzPct val="100000"/>
              <a:buChar char="•"/>
            </a:pPr>
            <a:r>
              <a:rPr lang="en-US" sz="1500" dirty="0">
                <a:solidFill>
                  <a:srgbClr val="222222"/>
                </a:solidFill>
              </a:rPr>
              <a:t>Automated monitoring</a:t>
            </a:r>
            <a:endParaRPr lang="en-US" sz="1500" dirty="0"/>
          </a:p>
          <a:p>
            <a:pPr marL="228600" indent="-228600">
              <a:buSzPct val="100000"/>
              <a:buChar char="•"/>
            </a:pPr>
            <a:r>
              <a:rPr lang="en-US" sz="1500" dirty="0">
                <a:solidFill>
                  <a:srgbClr val="222222"/>
                </a:solidFill>
              </a:rPr>
              <a:t>Centralized alerts</a:t>
            </a:r>
            <a:endParaRPr lang="en-US" sz="1500" dirty="0"/>
          </a:p>
          <a:p>
            <a:pPr marL="228600" indent="-228600">
              <a:buSzPct val="100000"/>
              <a:buChar char="•"/>
            </a:pPr>
            <a:r>
              <a:rPr lang="en-US" sz="1500" dirty="0">
                <a:solidFill>
                  <a:srgbClr val="222222"/>
                </a:solidFill>
              </a:rPr>
              <a:t>Actionable recommendations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1234440" y="5440680"/>
            <a:ext cx="9692640" cy="594360"/>
          </a:xfrm>
          <a:prstGeom prst="roundRect">
            <a:avLst>
              <a:gd name="adj" fmla="val 7692"/>
            </a:avLst>
          </a:prstGeom>
          <a:solidFill>
            <a:srgbClr val="F7F7FA"/>
          </a:solidFill>
          <a:ln w="12700">
            <a:solidFill>
              <a:srgbClr val="EAF2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463040" y="5614416"/>
            <a:ext cx="9235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4135F"/>
                </a:solidFill>
              </a:rPr>
              <a:t>The main value lies in earlier detection and better prioritization.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274320" y="64008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6666"/>
                </a:solidFill>
              </a:rPr>
              <a:t>Confidential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1430000" y="6400800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66666"/>
                </a:solidFill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73152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D1D1D"/>
                </a:solidFill>
              </a:rPr>
              <a:t>Unsupported slide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822960" y="155448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66666"/>
                </a:solidFill>
              </a:rPr>
              <a:t>Type not yet implemented: animation (error)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274320" y="64008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6666"/>
                </a:solidFill>
              </a:rPr>
              <a:t>Confidential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430000" y="6400800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66666"/>
                </a:solidFill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02920"/>
            <a:ext cx="9875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Success metrics of how to hopefully get an errormessage because this would be cool if it worked!!!!!!!!!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31520" y="960120"/>
            <a:ext cx="9144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</a:rPr>
              <a:t>How value will be measured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1115568" y="1920240"/>
            <a:ext cx="3063240" cy="2606040"/>
          </a:xfrm>
          <a:prstGeom prst="roundRect">
            <a:avLst>
              <a:gd name="adj" fmla="val 2807"/>
            </a:avLst>
          </a:prstGeom>
          <a:solidFill>
            <a:srgbClr val="F7F7FA"/>
          </a:solidFill>
          <a:ln w="12700">
            <a:solidFill>
              <a:srgbClr val="D9E8F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252728" y="2121408"/>
            <a:ext cx="2788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D1D1D"/>
                </a:solidFill>
              </a:rPr>
              <a:t>Triggered alerts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252728" y="2670048"/>
            <a:ext cx="278892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24135F"/>
                </a:solidFill>
              </a:rPr>
              <a:t>↑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1280160" y="3566160"/>
            <a:ext cx="273405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55555"/>
                </a:solidFill>
              </a:rPr>
              <a:t>More relevant market signals captured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562856" y="1920240"/>
            <a:ext cx="3063240" cy="2606040"/>
          </a:xfrm>
          <a:prstGeom prst="roundRect">
            <a:avLst>
              <a:gd name="adj" fmla="val 2807"/>
            </a:avLst>
          </a:prstGeom>
          <a:solidFill>
            <a:srgbClr val="EAF2FF"/>
          </a:solidFill>
          <a:ln w="12700">
            <a:solidFill>
              <a:srgbClr val="D9E8F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700016" y="2121408"/>
            <a:ext cx="2788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D1D1D"/>
                </a:solidFill>
              </a:rPr>
              <a:t>Consultant usage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700016" y="2670048"/>
            <a:ext cx="278892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24135F"/>
                </a:solidFill>
              </a:rPr>
              <a:t>High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4727448" y="3566160"/>
            <a:ext cx="273405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55555"/>
                </a:solidFill>
              </a:rPr>
              <a:t>Alerts integrated into daily work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8010144" y="1920240"/>
            <a:ext cx="3063240" cy="2606040"/>
          </a:xfrm>
          <a:prstGeom prst="roundRect">
            <a:avLst>
              <a:gd name="adj" fmla="val 2807"/>
            </a:avLst>
          </a:prstGeom>
          <a:solidFill>
            <a:srgbClr val="F7F7FA"/>
          </a:solidFill>
          <a:ln w="12700">
            <a:solidFill>
              <a:srgbClr val="D9E8F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147304" y="2121408"/>
            <a:ext cx="2788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D1D1D"/>
                </a:solidFill>
              </a:rPr>
              <a:t>Conversion impact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8147304" y="2670048"/>
            <a:ext cx="278892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24135F"/>
                </a:solidFill>
              </a:rPr>
              <a:t>+X%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8174736" y="3566160"/>
            <a:ext cx="273405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55555"/>
                </a:solidFill>
              </a:rPr>
              <a:t>Improved opportunity follow-up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274320" y="64008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6666"/>
                </a:solidFill>
              </a:rPr>
              <a:t>Confidential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1430000" y="6400800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66666"/>
                </a:solidFill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02920"/>
            <a:ext cx="9875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 steps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731520" y="960120"/>
            <a:ext cx="9144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</a:rPr>
              <a:t>From concept to pilot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914400" y="1737360"/>
            <a:ext cx="640080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1D1D1D"/>
                </a:solidFill>
              </a:rPr>
              <a:t>Define pilot broker set</a:t>
            </a:r>
            <a:endParaRPr lang="en-US" sz="1800" dirty="0"/>
          </a:p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1D1D1D"/>
                </a:solidFill>
              </a:rPr>
              <a:t>Select initial data sources</a:t>
            </a:r>
            <a:endParaRPr lang="en-US" sz="1800" dirty="0"/>
          </a:p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1D1D1D"/>
                </a:solidFill>
              </a:rPr>
              <a:t>Implement alert workflow</a:t>
            </a:r>
            <a:endParaRPr lang="en-US" sz="1800" dirty="0"/>
          </a:p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1D1D1D"/>
                </a:solidFill>
              </a:rPr>
              <a:t>Validate usefulness with consultants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7909560" y="1965960"/>
            <a:ext cx="3246120" cy="1600200"/>
          </a:xfrm>
          <a:prstGeom prst="roundRect">
            <a:avLst>
              <a:gd name="adj" fmla="val 4571"/>
            </a:avLst>
          </a:prstGeom>
          <a:solidFill>
            <a:srgbClr val="24135F"/>
          </a:solidFill>
          <a:ln w="12700">
            <a:solidFill>
              <a:srgbClr val="24135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138160" y="2523744"/>
            <a:ext cx="2788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Launch a targeted PoC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274320" y="64008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6666"/>
                </a:solidFill>
              </a:rPr>
              <a:t>Confidential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430000" y="6400800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66666"/>
                </a:solidFill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talentia_brand_profile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Broker Market and Competition Radar</dc:title>
  <dc:subject>Present a PoC concept</dc:subject>
  <dc:creator>Smart PPT Renderer</dc:creator>
  <cp:lastModifiedBy>Smart PPT Renderer</cp:lastModifiedBy>
  <cp:revision>1</cp:revision>
  <dcterms:created xsi:type="dcterms:W3CDTF">2026-04-07T12:31:01Z</dcterms:created>
  <dcterms:modified xsi:type="dcterms:W3CDTF">2026-04-07T12:31:01Z</dcterms:modified>
</cp:coreProperties>
</file>