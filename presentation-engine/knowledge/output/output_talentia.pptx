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Market and Competition Radar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fragmented signals to actionable recommendations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</a:rPr>
              <a:t>AI-assisted market intelligence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4135F"/>
          </a:solidFill>
          <a:ln w="12700">
            <a:solidFill>
              <a:srgbClr val="241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pain points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Why the current process is inefficient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consultants currently face several challenges: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9875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market information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manual research effort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detection of relevant signals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proactive engagement opportunities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4135F"/>
          </a:solidFill>
          <a:ln w="12700">
            <a:solidFill>
              <a:srgbClr val="241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vs target state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How the workflow changes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4983480" cy="3566160"/>
          </a:xfrm>
          <a:prstGeom prst="roundRect">
            <a:avLst>
              <a:gd name="adj" fmla="val 1538"/>
            </a:avLst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5080" y="1554480"/>
            <a:ext cx="4983480" cy="3566160"/>
          </a:xfrm>
          <a:prstGeom prst="roundRect">
            <a:avLst>
              <a:gd name="adj" fmla="val 1538"/>
            </a:avLst>
          </a:prstGeom>
          <a:solidFill>
            <a:srgbClr val="EAF2FF"/>
          </a:solidFill>
          <a:ln w="12700">
            <a:solidFill>
              <a:srgbClr val="B7D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5564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Today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175564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D"/>
                </a:solidFill>
              </a:rPr>
              <a:t>Target state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212848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Manual monitoring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Scattered sources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Reactive engagement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2212848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Automated monitoring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Centralized alerts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Actionable recommendations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34440" y="5440680"/>
            <a:ext cx="9692640" cy="594360"/>
          </a:xfrm>
          <a:prstGeom prst="roundRect">
            <a:avLst>
              <a:gd name="adj" fmla="val 7692"/>
            </a:avLst>
          </a:prstGeom>
          <a:solidFill>
            <a:srgbClr val="F7F7FA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5614416"/>
            <a:ext cx="9235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135F"/>
                </a:solidFill>
              </a:rPr>
              <a:t>The main value lies in earlier detection and better prioritization.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workflow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From raw signals to recommendations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682496" y="2240280"/>
            <a:ext cx="1965960" cy="1600200"/>
          </a:xfrm>
          <a:prstGeom prst="roundRect">
            <a:avLst>
              <a:gd name="adj" fmla="val 4000"/>
            </a:avLst>
          </a:prstGeom>
          <a:solidFill>
            <a:srgbClr val="EAF2FF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14016" y="1947672"/>
            <a:ext cx="502920" cy="502920"/>
          </a:xfrm>
          <a:prstGeom prst="ellipse">
            <a:avLst/>
          </a:prstGeom>
          <a:solidFill>
            <a:srgbClr val="24135F"/>
          </a:solidFill>
          <a:ln w="12700">
            <a:solidFill>
              <a:srgbClr val="2413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23744" y="210312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92224" y="2441448"/>
            <a:ext cx="1746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D"/>
                </a:solidFill>
              </a:rPr>
              <a:t>Collect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19656" y="280720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Gather signals from external and internal sources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94176" y="27706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968496" y="2240280"/>
            <a:ext cx="1965960" cy="16002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0016" y="1947672"/>
            <a:ext cx="502920" cy="502920"/>
          </a:xfrm>
          <a:prstGeom prst="ellipse">
            <a:avLst/>
          </a:prstGeom>
          <a:solidFill>
            <a:srgbClr val="24135F"/>
          </a:solidFill>
          <a:ln w="12700">
            <a:solidFill>
              <a:srgbClr val="2413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9744" y="210312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78224" y="2441448"/>
            <a:ext cx="1746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D"/>
                </a:solidFill>
              </a:rPr>
              <a:t>Detect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05656" y="280720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Identify events such as M&amp;A and personnel changes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80176" y="27706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54496" y="2240280"/>
            <a:ext cx="1965960" cy="1600200"/>
          </a:xfrm>
          <a:prstGeom prst="roundRect">
            <a:avLst>
              <a:gd name="adj" fmla="val 4000"/>
            </a:avLst>
          </a:prstGeom>
          <a:solidFill>
            <a:srgbClr val="EAF2FF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86016" y="1947672"/>
            <a:ext cx="502920" cy="502920"/>
          </a:xfrm>
          <a:prstGeom prst="ellipse">
            <a:avLst/>
          </a:prstGeom>
          <a:solidFill>
            <a:srgbClr val="24135F"/>
          </a:solidFill>
          <a:ln w="12700">
            <a:solidFill>
              <a:srgbClr val="2413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95744" y="210312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64224" y="2441448"/>
            <a:ext cx="1746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D"/>
                </a:solidFill>
              </a:rPr>
              <a:t>Analyze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91656" y="280720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Assess business relevance with LLM reasoning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66176" y="27706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540496" y="2240280"/>
            <a:ext cx="1965960" cy="16002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72016" y="1947672"/>
            <a:ext cx="502920" cy="502920"/>
          </a:xfrm>
          <a:prstGeom prst="ellipse">
            <a:avLst/>
          </a:prstGeom>
          <a:solidFill>
            <a:srgbClr val="24135F"/>
          </a:solidFill>
          <a:ln w="12700">
            <a:solidFill>
              <a:srgbClr val="2413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81744" y="210312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50224" y="2441448"/>
            <a:ext cx="1746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D"/>
                </a:solidFill>
              </a:rPr>
              <a:t>Deliver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677656" y="280720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Send recommendations via Slack or email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How value will be measured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115568" y="1920240"/>
            <a:ext cx="3063240" cy="2606040"/>
          </a:xfrm>
          <a:prstGeom prst="roundRect">
            <a:avLst>
              <a:gd name="adj" fmla="val 2807"/>
            </a:avLst>
          </a:prstGeom>
          <a:solidFill>
            <a:srgbClr val="F7F7FA"/>
          </a:solidFill>
          <a:ln w="12700">
            <a:solidFill>
              <a:srgbClr val="D9E8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2728" y="212140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D"/>
                </a:solidFill>
              </a:rPr>
              <a:t>Triggered alerts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52728" y="2670048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135F"/>
                </a:solidFill>
              </a:rPr>
              <a:t>↑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3566160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More relevant market signals captured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62856" y="1920240"/>
            <a:ext cx="3063240" cy="2606040"/>
          </a:xfrm>
          <a:prstGeom prst="roundRect">
            <a:avLst>
              <a:gd name="adj" fmla="val 2807"/>
            </a:avLst>
          </a:prstGeom>
          <a:solidFill>
            <a:srgbClr val="EAF2FF"/>
          </a:solidFill>
          <a:ln w="12700">
            <a:solidFill>
              <a:srgbClr val="D9E8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0016" y="212140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D"/>
                </a:solidFill>
              </a:rPr>
              <a:t>Consultant usage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0016" y="2670048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135F"/>
                </a:solidFill>
              </a:rPr>
              <a:t>High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727448" y="3566160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Alerts integrated into daily work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10144" y="1920240"/>
            <a:ext cx="3063240" cy="2606040"/>
          </a:xfrm>
          <a:prstGeom prst="roundRect">
            <a:avLst>
              <a:gd name="adj" fmla="val 2807"/>
            </a:avLst>
          </a:prstGeom>
          <a:solidFill>
            <a:srgbClr val="F7F7FA"/>
          </a:solidFill>
          <a:ln w="12700">
            <a:solidFill>
              <a:srgbClr val="D9E8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47304" y="212140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D"/>
                </a:solidFill>
              </a:rPr>
              <a:t>Conversion impact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47304" y="2670048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135F"/>
                </a:solidFill>
              </a:rPr>
              <a:t>+X%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174736" y="3566160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Improved opportunity follow-up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From concept to pilot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</a:rPr>
              <a:t>Define pilot broker set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</a:rPr>
              <a:t>Select initial data sources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</a:rPr>
              <a:t>Implement alert workflow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</a:rPr>
              <a:t>Validate usefulness with consultants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09560" y="1965960"/>
            <a:ext cx="3246120" cy="1600200"/>
          </a:xfrm>
          <a:prstGeom prst="roundRect">
            <a:avLst>
              <a:gd name="adj" fmla="val 4571"/>
            </a:avLst>
          </a:prstGeom>
          <a:solidFill>
            <a:srgbClr val="24135F"/>
          </a:solidFill>
          <a:ln w="12700">
            <a:solidFill>
              <a:srgbClr val="2413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252374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Launch a targeted PoC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talentia_brand_profile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Broker Market and Competition Radar</dc:title>
  <dc:subject>Present a PoC concept</dc:subject>
  <dc:creator>Smart PPT Renderer</dc:creator>
  <cp:lastModifiedBy>Smart PPT Renderer</cp:lastModifiedBy>
  <cp:revision>1</cp:revision>
  <dcterms:created xsi:type="dcterms:W3CDTF">2026-04-07T11:55:29Z</dcterms:created>
  <dcterms:modified xsi:type="dcterms:W3CDTF">2026-04-07T11:55:29Z</dcterms:modified>
</cp:coreProperties>
</file>